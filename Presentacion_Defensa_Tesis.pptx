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Asistente Virtual Inteligente con Avatar 3D, Visión Artificial y RAG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Defensa de Tesis</a:t>
            </a:r>
          </a:p>
          <a:p>
            <a:r>
              <a:t>Paulo Emilio Espinoza Jiménez</a:t>
            </a:r>
          </a:p>
          <a:p>
            <a:r>
              <a:t>Ingeniería en Tecnologías de la Información</a:t>
            </a:r>
          </a:p>
        </p:txBody>
      </p:sp>
      <p:pic>
        <p:nvPicPr>
          <p:cNvPr id="4" name="Picture 3" descr="LOGO-UTI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¡Atención! (Borrar esta diapositiva)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activar las animaciones de 'clic a clic' que solicitaste:</a:t>
            </a:r>
          </a:p>
          <a:p>
            <a:r>
              <a:t>1. Selecciona todo el texto de una diapositiva (Ctrl+E).</a:t>
            </a:r>
          </a:p>
          <a:p>
            <a:r>
              <a:t>2. Ve a la pestaña 'Animaciones' arriba en PowerPoint.</a:t>
            </a:r>
          </a:p>
          <a:p>
            <a:r>
              <a:t>3. Haz clic en 'Aparecer'.</a:t>
            </a:r>
          </a:p>
          <a:p>
            <a:r>
              <a:t>4. ¡Listo! Al presentar, cada punto aparecerá con un clic, ideal para explicar paso a paso.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¿Cuál es el Problema Actual?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Estudiantes pierden tiempo buscando normativas o mallas curriculares.</a:t>
            </a:r>
          </a:p>
          <a:p>
            <a:pPr>
              <a:spcAft>
                <a:spcPts val="1400"/>
              </a:spcAft>
              <a:defRPr sz="2800"/>
            </a:pPr>
            <a:r>
              <a:t>Los sistemas actuales (PDFs, webs institucionales) son estáticos y lentos.</a:t>
            </a:r>
          </a:p>
          <a:p>
            <a:pPr>
              <a:spcAft>
                <a:spcPts val="1400"/>
              </a:spcAft>
              <a:defRPr sz="2800"/>
            </a:pPr>
            <a:r>
              <a:t>Dudas frecuentes saturan al personal de secretaría.</a:t>
            </a:r>
          </a:p>
          <a:p>
            <a:pPr>
              <a:spcAft>
                <a:spcPts val="1400"/>
              </a:spcAft>
              <a:defRPr sz="2800"/>
            </a:pPr>
            <a:r>
              <a:t>Falta un sistema proactivo y amigable que responda de inmediato.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Nuestra Solución: Asistente Inteligente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Un Asistente Virtual 3D interactivo y accesible 24/7.</a:t>
            </a:r>
          </a:p>
          <a:p>
            <a:pPr>
              <a:spcAft>
                <a:spcPts val="1400"/>
              </a:spcAft>
              <a:defRPr sz="2800"/>
            </a:pPr>
            <a:r>
              <a:t>Responde preguntas en lenguaje natural (como un humano).</a:t>
            </a:r>
          </a:p>
          <a:p>
            <a:pPr>
              <a:spcAft>
                <a:spcPts val="1400"/>
              </a:spcAft>
              <a:defRPr sz="2800"/>
            </a:pPr>
            <a:r>
              <a:t>Conoce exactamente los reglamentos y la información de la institución.</a:t>
            </a:r>
          </a:p>
          <a:p>
            <a:pPr>
              <a:spcAft>
                <a:spcPts val="1400"/>
              </a:spcAft>
              <a:defRPr sz="2800"/>
            </a:pPr>
            <a:r>
              <a:t>Detecta visualmente al usuario para iniciar la conversación.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Concepto Clave: IA Generativa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¿Qué es? Una tecnología que puede 'crear' texto, entender preguntas y conversar (ej. ChatGPT).</a:t>
            </a:r>
          </a:p>
          <a:p>
            <a:pPr>
              <a:spcAft>
                <a:spcPts val="1400"/>
              </a:spcAft>
              <a:defRPr sz="2800"/>
            </a:pPr>
            <a:r>
              <a:t>Problema: Las IAs normales inventan cosas ('alucinan') cuando no saben una respuesta.</a:t>
            </a:r>
          </a:p>
          <a:p>
            <a:pPr>
              <a:spcAft>
                <a:spcPts val="1400"/>
              </a:spcAft>
              <a:defRPr sz="2800"/>
            </a:pPr>
            <a:r>
              <a:t>Tampoco conocen documentos privados de nuestra institución.</a:t>
            </a:r>
          </a:p>
          <a:p>
            <a:pPr>
              <a:spcAft>
                <a:spcPts val="1400"/>
              </a:spcAft>
              <a:defRPr sz="2800"/>
            </a:pPr>
            <a:r>
              <a:t>¿Cómo lo solucionamos? Con la tecnología RAG.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RAG? (Generación Aumentada por Recuperación)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Es como darle a la IA un 'libro de reglas abierto' antes de que responda.</a:t>
            </a:r>
          </a:p>
          <a:p>
            <a:pPr>
              <a:spcAft>
                <a:spcPts val="1400"/>
              </a:spcAft>
              <a:defRPr sz="2800"/>
            </a:pPr>
            <a:r>
              <a:t>1. El estudiante hace una pregunta.</a:t>
            </a:r>
          </a:p>
          <a:p>
            <a:pPr>
              <a:spcAft>
                <a:spcPts val="1400"/>
              </a:spcAft>
              <a:defRPr sz="2800"/>
            </a:pPr>
            <a:r>
              <a:t>2. El sistema 'Busca' (Recuperación) en nuestros PDF oficiales.</a:t>
            </a:r>
          </a:p>
          <a:p>
            <a:pPr>
              <a:spcAft>
                <a:spcPts val="1400"/>
              </a:spcAft>
              <a:defRPr sz="2800"/>
            </a:pPr>
            <a:r>
              <a:t>3. Le pasamos esos párrafos exactos a la IA.</a:t>
            </a:r>
          </a:p>
          <a:p>
            <a:pPr>
              <a:spcAft>
                <a:spcPts val="1400"/>
              </a:spcAft>
              <a:defRPr sz="2800"/>
            </a:pPr>
            <a:r>
              <a:t>4. La IA 'Genera' una respuesta precisa sin inventar nada.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Interactividad: Avatar 3D y Visión Artificial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Visión Artificial: Usamos la cámara para saber si hay una persona enfrente.</a:t>
            </a:r>
          </a:p>
          <a:p>
            <a:pPr>
              <a:spcAft>
                <a:spcPts val="1400"/>
              </a:spcAft>
              <a:defRPr sz="2800"/>
            </a:pPr>
            <a:r>
              <a:t>Si detecta a alguien, el Asistente se 'despierta' y saluda.</a:t>
            </a:r>
          </a:p>
          <a:p>
            <a:pPr>
              <a:spcAft>
                <a:spcPts val="1400"/>
              </a:spcAft>
              <a:defRPr sz="2800"/>
            </a:pPr>
            <a:r>
              <a:t>Avatar 3D: Da un rostro humano, habla con voz sintetizada y mueve los labios (lipsync).</a:t>
            </a:r>
          </a:p>
          <a:p>
            <a:pPr>
              <a:spcAft>
                <a:spcPts val="1400"/>
              </a:spcAft>
              <a:defRPr sz="2800"/>
            </a:pPr>
            <a:r>
              <a:t>Hace que la tecnología se sienta más cercana y menos fría.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¿Cómo se construyó? (Metodología)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Metodología DSRM (Ciencia de Diseño): Enfoque en crear un producto (artefacto) que resuelva un problema real.</a:t>
            </a:r>
          </a:p>
          <a:p>
            <a:pPr>
              <a:spcAft>
                <a:spcPts val="1400"/>
              </a:spcAft>
              <a:defRPr sz="2800"/>
            </a:pPr>
            <a:r>
              <a:t>Marco de Trabajo Scrum: Desarrollo ágil, paso a paso (Sprints).</a:t>
            </a:r>
          </a:p>
          <a:p>
            <a:pPr>
              <a:spcAft>
                <a:spcPts val="1400"/>
              </a:spcAft>
              <a:defRPr sz="2800"/>
            </a:pPr>
            <a:r>
              <a:t>Mejoras constantes probando el asistente varias veces.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Sistema (Vista General)</a:t>
            </a:r>
          </a:p>
        </p:txBody>
      </p:sp>
      <p:pic>
        <p:nvPicPr>
          <p:cNvPr id="3" name="Picture 2" descr="nuevo_diagrama_context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673553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Software (Cliente - Servidor)</a:t>
            </a:r>
          </a:p>
        </p:txBody>
      </p:sp>
      <p:pic>
        <p:nvPicPr>
          <p:cNvPr id="3" name="Picture 2" descr="diagrama_arquitectura_softwar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9220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¿Cómo se busca la información? (Motor Vectorial)</a:t>
            </a:r>
          </a:p>
        </p:txBody>
      </p:sp>
      <p:pic>
        <p:nvPicPr>
          <p:cNvPr id="3" name="Picture 2" descr="Diagrama de base de datos vectori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26674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'Cerebro'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Para entender los textos (Embeddings): Usamos 'paraphrase-multilingual-MiniLM'. Es excelente entendiendo español.</a:t>
            </a:r>
          </a:p>
          <a:p>
            <a:pPr>
              <a:spcAft>
                <a:spcPts val="1400"/>
              </a:spcAft>
              <a:defRPr sz="2800"/>
            </a:pPr>
            <a:r>
              <a:t>Para responder (LLM): Usamos 'Nemotron' (de Nvidia).</a:t>
            </a:r>
          </a:p>
          <a:p>
            <a:pPr>
              <a:spcAft>
                <a:spcPts val="1400"/>
              </a:spcAft>
              <a:defRPr sz="2800"/>
            </a:pPr>
            <a:r>
              <a:t>Se ejecuta localmente, lo que asegura total privacidad de los datos.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Interfaz del Estudiante: Chat por Texto</a:t>
            </a:r>
          </a:p>
        </p:txBody>
      </p:sp>
      <p:pic>
        <p:nvPicPr>
          <p:cNvPr id="3" name="Picture 2" descr="Seccion_Chat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971435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Interfaz del Estudiante: Chat por Voz y Avatar</a:t>
            </a:r>
          </a:p>
        </p:txBody>
      </p:sp>
      <p:pic>
        <p:nvPicPr>
          <p:cNvPr id="3" name="Picture 2" descr="Seccion_Convers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971435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Interfaz del Administrador: Subir Documentos</a:t>
            </a:r>
          </a:p>
        </p:txBody>
      </p:sp>
      <p:pic>
        <p:nvPicPr>
          <p:cNvPr id="3" name="Picture 2" descr="Seccion_Admin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799331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Resultados: ¿Es preciso respondiendo?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Medimos el 'Hit Rate' (Tasa de acierto).</a:t>
            </a:r>
          </a:p>
          <a:p>
            <a:pPr>
              <a:spcAft>
                <a:spcPts val="1400"/>
              </a:spcAft>
              <a:defRPr sz="2800"/>
            </a:pPr>
            <a:r>
              <a:t>El sistema logró un 92.0% de acierto al encontrar el reglamento correcto.</a:t>
            </a:r>
          </a:p>
          <a:p>
            <a:pPr>
              <a:spcAft>
                <a:spcPts val="1400"/>
              </a:spcAft>
              <a:defRPr sz="2800"/>
            </a:pPr>
            <a:r>
              <a:t>Casi siempre entrega la información exacta que el estudiante pidió.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Resultados: ¿Es rápido?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Medimos el TTFB (Tiempo hasta el primer byte).</a:t>
            </a:r>
          </a:p>
          <a:p>
            <a:pPr>
              <a:spcAft>
                <a:spcPts val="1400"/>
              </a:spcAft>
              <a:defRPr sz="2800"/>
            </a:pPr>
            <a:r>
              <a:t>El promedio es de 450 milisegundos (¡Menos de medio segundo!).</a:t>
            </a:r>
          </a:p>
          <a:p>
            <a:pPr>
              <a:spcAft>
                <a:spcPts val="1400"/>
              </a:spcAft>
              <a:defRPr sz="2800"/>
            </a:pPr>
            <a:r>
              <a:t>La conversación se siente muy natural y sin pausas largas, gracias a la tecnología WebSockets.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Resultados: Usabilidad (Encuesta a Estudiantes)</a:t>
            </a:r>
          </a:p>
        </p:txBody>
      </p:sp>
      <p:pic>
        <p:nvPicPr>
          <p:cNvPr id="3" name="Picture 2" descr="PREGUNT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190317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opinaron los estudiantes?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13 estudiantes evaluaron el prototipo.</a:t>
            </a:r>
          </a:p>
          <a:p>
            <a:pPr>
              <a:spcAft>
                <a:spcPts val="1400"/>
              </a:spcAft>
              <a:defRPr sz="2800"/>
            </a:pPr>
            <a:r>
              <a:t>Alta calificación en Facilidad de Uso.</a:t>
            </a:r>
          </a:p>
          <a:p>
            <a:pPr>
              <a:spcAft>
                <a:spcPts val="1400"/>
              </a:spcAft>
              <a:defRPr sz="2800"/>
            </a:pPr>
            <a:r>
              <a:t>Confirmaron que la experiencia con el Avatar 3D es mucho más atractiva que un buscador tradicional.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RAG funciona: Permite que la IA use documentos institucionales sin cometer errores.</a:t>
            </a:r>
          </a:p>
          <a:p>
            <a:pPr>
              <a:spcAft>
                <a:spcPts val="1400"/>
              </a:spcAft>
              <a:defRPr sz="2800"/>
            </a:pPr>
            <a:r>
              <a:t>Privacidad total: Todo corre en servidores locales, sin pagar por consultas a la nube.</a:t>
            </a:r>
          </a:p>
          <a:p>
            <a:pPr>
              <a:spcAft>
                <a:spcPts val="1400"/>
              </a:spcAft>
              <a:defRPr sz="2800"/>
            </a:pPr>
            <a:r>
              <a:t>Multimodal: La combinación de Texto, Voz, Visión y Avatar 3D transforma el servicio estudiantil.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y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800"/>
            </a:pPr>
            <a:r>
              <a:t>Reduce la carga operativa en secretaría y mejora la experiencia del alumno.</a:t>
            </a:r>
          </a:p>
          <a:p>
            <a:pPr>
              <a:spcAft>
                <a:spcPts val="1400"/>
              </a:spcAft>
              <a:defRPr sz="2800"/>
            </a:pPr>
            <a:r>
              <a:t>A futuro: Se puede integrar directamente con el sistema de notas para respuestas personalizadas.</a:t>
            </a:r>
          </a:p>
          <a:p>
            <a:pPr>
              <a:spcAft>
                <a:spcPts val="1400"/>
              </a:spcAft>
              <a:defRPr sz="2800"/>
            </a:pPr>
            <a:r>
              <a:t>Se puede añadir soporte para más idiomas.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Demostración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i="1"/>
            </a:pPr>
            <a:r>
              <a:t>(Espacio reservado para mostrar el software en vivo)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¿Preguntas?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¡Gracias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